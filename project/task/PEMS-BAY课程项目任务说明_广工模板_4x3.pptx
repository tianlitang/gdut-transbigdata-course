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85714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pic>
        <p:nvPicPr>
          <p:cNvPr id="3" name="Image 0" descr="/Users/dani/Documents/Textbook-big data in engineering/授课计划/附件1：学校横版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93192"/>
            <a:ext cx="4069080" cy="960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709928"/>
            <a:ext cx="2011680" cy="329184"/>
          </a:xfrm>
          <a:prstGeom prst="roundRect">
            <a:avLst>
              <a:gd name="adj" fmla="val 33333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4088" y="171907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30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交通运输专业本科课程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235000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PEMS-BAY课程项目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640080" y="30358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00" b="1" dirty="0">
                <a:solidFill>
                  <a:srgbClr val="C30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任务说明</a:t>
            </a:r>
            <a:endParaRPr lang="en-US" sz="3900" dirty="0"/>
          </a:p>
        </p:txBody>
      </p:sp>
      <p:sp>
        <p:nvSpPr>
          <p:cNvPr id="8" name="Shape 5"/>
          <p:cNvSpPr/>
          <p:nvPr/>
        </p:nvSpPr>
        <p:spPr>
          <a:xfrm>
            <a:off x="640080" y="3913632"/>
            <a:ext cx="5349240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178808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从交通管理场景提出问题，用数据给出有边界的回答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40080" y="5230368"/>
            <a:ext cx="2240280" cy="438912"/>
          </a:xfrm>
          <a:prstGeom prst="roundRect">
            <a:avLst>
              <a:gd name="adj" fmla="val 25000"/>
            </a:avLst>
          </a:prstGeom>
          <a:solidFill>
            <a:srgbClr val="EDF3F8"/>
          </a:solidFill>
          <a:ln w="10160">
            <a:solidFill>
              <a:srgbClr val="3E6A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5239512"/>
            <a:ext cx="211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3E6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5组 · 每组4—5人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063240" y="5230368"/>
            <a:ext cx="1874520" cy="438912"/>
          </a:xfrm>
          <a:prstGeom prst="roundRect">
            <a:avLst>
              <a:gd name="adj" fmla="val 25000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27248" y="5239512"/>
            <a:ext cx="1746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C30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第12周汇报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6190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《交通大数据分析与应用》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/Documents/Textbook-big data in engineering/授课计划/附件1：学校横版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"/>
            <a:ext cx="1353312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46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《交通大数据分析与应用》· PEMS-BAY课程项目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302752" y="14630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93776" y="557784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740664"/>
            <a:ext cx="45720" cy="329184"/>
          </a:xfrm>
          <a:prstGeom prst="rect">
            <a:avLst>
              <a:gd name="adj" fmla="val 240000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685800"/>
            <a:ext cx="7040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这次项目要回答什么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552944" y="74980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6952" y="758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" y="6519672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PEMS-BAY课程项目任务说明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13533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8F0B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不是先选一个算法，而是先说清楚管理者要做什么决定。</a:t>
            </a:r>
            <a:endParaRPr lang="en-US" sz="2300" dirty="0"/>
          </a:p>
        </p:txBody>
      </p:sp>
      <p:sp>
        <p:nvSpPr>
          <p:cNvPr id="13" name="Shape 10"/>
          <p:cNvSpPr/>
          <p:nvPr/>
        </p:nvSpPr>
        <p:spPr>
          <a:xfrm>
            <a:off x="658368" y="2167128"/>
            <a:ext cx="1874520" cy="950976"/>
          </a:xfrm>
          <a:prstGeom prst="roundRect">
            <a:avLst>
              <a:gd name="adj" fmla="val 11538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2304288"/>
            <a:ext cx="374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" y="2606040"/>
            <a:ext cx="1627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管理场景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770632" y="2167128"/>
            <a:ext cx="1874520" cy="950976"/>
          </a:xfrm>
          <a:prstGeom prst="roundRect">
            <a:avLst>
              <a:gd name="adj" fmla="val 11538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89504" y="2304288"/>
            <a:ext cx="374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889504" y="2606040"/>
            <a:ext cx="1627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决策需求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882896" y="2167128"/>
            <a:ext cx="1874520" cy="950976"/>
          </a:xfrm>
          <a:prstGeom prst="roundRect">
            <a:avLst>
              <a:gd name="adj" fmla="val 11538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1768" y="2304288"/>
            <a:ext cx="374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001768" y="2606040"/>
            <a:ext cx="1627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交通问题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995160" y="2167128"/>
            <a:ext cx="1874520" cy="950976"/>
          </a:xfrm>
          <a:prstGeom prst="roundRect">
            <a:avLst>
              <a:gd name="adj" fmla="val 11538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14032" y="2304288"/>
            <a:ext cx="374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114032" y="2606040"/>
            <a:ext cx="1627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分析对象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58368" y="3474720"/>
            <a:ext cx="1874520" cy="950976"/>
          </a:xfrm>
          <a:prstGeom prst="roundRect">
            <a:avLst>
              <a:gd name="adj" fmla="val 11538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3611880"/>
            <a:ext cx="374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77240" y="3913632"/>
            <a:ext cx="1627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指标与方法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2770632" y="3474720"/>
            <a:ext cx="1874520" cy="950976"/>
          </a:xfrm>
          <a:prstGeom prst="roundRect">
            <a:avLst>
              <a:gd name="adj" fmla="val 11538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889504" y="3611880"/>
            <a:ext cx="374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889504" y="3913632"/>
            <a:ext cx="1627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结果验证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4882896" y="3474720"/>
            <a:ext cx="1874520" cy="950976"/>
          </a:xfrm>
          <a:prstGeom prst="roundRect">
            <a:avLst>
              <a:gd name="adj" fmla="val 11538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01768" y="3611880"/>
            <a:ext cx="374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001768" y="3913632"/>
            <a:ext cx="1627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解释与局限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6995160" y="3474720"/>
            <a:ext cx="1874520" cy="950976"/>
          </a:xfrm>
          <a:prstGeom prst="roundRect">
            <a:avLst>
              <a:gd name="adj" fmla="val 11538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14032" y="3611880"/>
            <a:ext cx="374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114032" y="3913632"/>
            <a:ext cx="1627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管理建议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960120" y="5239512"/>
            <a:ext cx="7223760" cy="429768"/>
          </a:xfrm>
          <a:prstGeom prst="roundRect">
            <a:avLst>
              <a:gd name="adj" fmla="val 25532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115568" y="5276088"/>
            <a:ext cx="6912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8F0B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重点看你怎样形成问题、解释证据、讨论局限，而非模型有多复杂。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/Documents/Textbook-big data in engineering/授课计划/附件1：学校横版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"/>
            <a:ext cx="1353312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46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《交通大数据分析与应用》· PEMS-BAY课程项目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302752" y="14630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93776" y="557784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740664"/>
            <a:ext cx="45720" cy="329184"/>
          </a:xfrm>
          <a:prstGeom prst="rect">
            <a:avLst>
              <a:gd name="adj" fmla="val 240000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685800"/>
            <a:ext cx="7040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组织方式与成绩构成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552944" y="74980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6952" y="758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考核安排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" y="6519672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PEMS-BAY课程项目任务说明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1517904"/>
            <a:ext cx="2487168" cy="2249424"/>
          </a:xfrm>
          <a:prstGeom prst="roundRect">
            <a:avLst>
              <a:gd name="adj" fmla="val 4878"/>
            </a:avLst>
          </a:prstGeom>
          <a:solidFill>
            <a:srgbClr val="EDF3F8"/>
          </a:solidFill>
          <a:ln w="10160">
            <a:solidFill>
              <a:srgbClr val="3E6A8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181051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500" b="1" dirty="0">
                <a:solidFill>
                  <a:srgbClr val="3E6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3500" dirty="0"/>
          </a:p>
        </p:txBody>
      </p:sp>
      <p:sp>
        <p:nvSpPr>
          <p:cNvPr id="14" name="Text 11"/>
          <p:cNvSpPr/>
          <p:nvPr/>
        </p:nvSpPr>
        <p:spPr>
          <a:xfrm>
            <a:off x="768096" y="2578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平时成绩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1520" y="316382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考勤与课堂表现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429000" y="1517904"/>
            <a:ext cx="2487168" cy="2249424"/>
          </a:xfrm>
          <a:prstGeom prst="roundRect">
            <a:avLst>
              <a:gd name="adj" fmla="val 4878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11880" y="181051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5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3500" dirty="0"/>
          </a:p>
        </p:txBody>
      </p:sp>
      <p:sp>
        <p:nvSpPr>
          <p:cNvPr id="18" name="Text 15"/>
          <p:cNvSpPr/>
          <p:nvPr/>
        </p:nvSpPr>
        <p:spPr>
          <a:xfrm>
            <a:off x="3602736" y="2578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小组汇报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566160" y="316382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组内成员同分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263640" y="1517904"/>
            <a:ext cx="2487168" cy="2249424"/>
          </a:xfrm>
          <a:prstGeom prst="roundRect">
            <a:avLst>
              <a:gd name="adj" fmla="val 4878"/>
            </a:avLst>
          </a:prstGeom>
          <a:solidFill>
            <a:srgbClr val="EDF7F2"/>
          </a:solidFill>
          <a:ln w="10160">
            <a:solidFill>
              <a:srgbClr val="3E7C7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46520" y="181051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500" b="1" dirty="0">
                <a:solidFill>
                  <a:srgbClr val="3E7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3500" dirty="0"/>
          </a:p>
        </p:txBody>
      </p:sp>
      <p:sp>
        <p:nvSpPr>
          <p:cNvPr id="22" name="Text 19"/>
          <p:cNvSpPr/>
          <p:nvPr/>
        </p:nvSpPr>
        <p:spPr>
          <a:xfrm>
            <a:off x="6437376" y="2578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个人报告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400800" y="316382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每人独立评分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94360" y="4224528"/>
            <a:ext cx="3858768" cy="1097280"/>
          </a:xfrm>
          <a:prstGeom prst="roundRect">
            <a:avLst>
              <a:gd name="adj" fmla="val 10000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808" y="4370832"/>
            <a:ext cx="3547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C30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全班5组，每组4—5人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749808" y="4791456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教师从8个场景中给本学期各组分配1项。</a:t>
            </a:r>
            <a:endParaRPr lang="en-US" sz="1550" dirty="0"/>
          </a:p>
        </p:txBody>
      </p:sp>
      <p:sp>
        <p:nvSpPr>
          <p:cNvPr id="27" name="Shape 24"/>
          <p:cNvSpPr/>
          <p:nvPr/>
        </p:nvSpPr>
        <p:spPr>
          <a:xfrm>
            <a:off x="4690872" y="4224528"/>
            <a:ext cx="3858768" cy="1097280"/>
          </a:xfrm>
          <a:prstGeom prst="roundRect">
            <a:avLst>
              <a:gd name="adj" fmla="val 10000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0" y="4370832"/>
            <a:ext cx="3547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C30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第12周课堂汇报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4846320" y="4791456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每组15分钟：10分钟陈述、5分钟问答。</a:t>
            </a:r>
            <a:endParaRPr lang="en-US" sz="1550" dirty="0"/>
          </a:p>
        </p:txBody>
      </p:sp>
      <p:sp>
        <p:nvSpPr>
          <p:cNvPr id="30" name="Shape 27"/>
          <p:cNvSpPr/>
          <p:nvPr/>
        </p:nvSpPr>
        <p:spPr>
          <a:xfrm>
            <a:off x="960120" y="5596128"/>
            <a:ext cx="7223760" cy="429768"/>
          </a:xfrm>
          <a:prstGeom prst="roundRect">
            <a:avLst>
              <a:gd name="adj" fmla="val 25532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15568" y="5632704"/>
            <a:ext cx="6912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8F0B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一组一个项目，共同完成分析；个人再提交独立撰写的报告。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/Documents/Textbook-big data in engineering/授课计划/附件1：学校横版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"/>
            <a:ext cx="1353312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46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《交通大数据分析与应用》· PEMS-BAY课程项目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302752" y="14630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93776" y="557784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740664"/>
            <a:ext cx="45720" cy="329184"/>
          </a:xfrm>
          <a:prstGeom prst="rect">
            <a:avLst>
              <a:gd name="adj" fmla="val 240000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685800"/>
            <a:ext cx="7040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每组使用同一份课程数据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552944" y="74980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6952" y="758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认识数据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" y="6519672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PEMS-BAY课程项目任务说明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8368" y="1344168"/>
            <a:ext cx="8001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3E6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2017年1—6月 · 325个检测站 · 52,116个5分钟时间点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58368" y="1975104"/>
            <a:ext cx="7845552" cy="685800"/>
          </a:xfrm>
          <a:prstGeom prst="roundRect">
            <a:avLst>
              <a:gd name="adj" fmla="val 16000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1975104"/>
            <a:ext cx="1490472" cy="685800"/>
          </a:xfrm>
          <a:prstGeom prst="roundRect">
            <a:avLst>
              <a:gd name="adj" fmla="val 16000"/>
            </a:avLst>
          </a:prstGeom>
          <a:solidFill>
            <a:srgbClr val="FBEAEC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206654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C30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速度主表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2350008" y="2066544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每个时间点 × 检测站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239512" y="2066544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平均速度，单位 mph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58368" y="2788920"/>
            <a:ext cx="784555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2788920"/>
            <a:ext cx="1490472" cy="685800"/>
          </a:xfrm>
          <a:prstGeom prst="roundRect">
            <a:avLst>
              <a:gd name="adj" fmla="val 16000"/>
            </a:avLst>
          </a:prstGeom>
          <a:solidFill>
            <a:srgbClr val="EDF3F8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2880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3E6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站点表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2350008" y="288036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检测站编号和列顺序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239512" y="288036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经纬度可用于点位展示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8368" y="3602736"/>
            <a:ext cx="7845552" cy="685800"/>
          </a:xfrm>
          <a:prstGeom prst="roundRect">
            <a:avLst>
              <a:gd name="adj" fmla="val 16000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" y="3602736"/>
            <a:ext cx="1490472" cy="685800"/>
          </a:xfrm>
          <a:prstGeom prst="roundRect">
            <a:avLst>
              <a:gd name="adj" fmla="val 16000"/>
            </a:avLst>
          </a:prstGeom>
          <a:solidFill>
            <a:srgbClr val="EDF3F8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36941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3E6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距离关系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2350008" y="3694176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部分有向站点对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5239512" y="3694176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作为相对距离／连接依据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58368" y="4416552"/>
            <a:ext cx="784555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" y="4416552"/>
            <a:ext cx="1490472" cy="685800"/>
          </a:xfrm>
          <a:prstGeom prst="roundRect">
            <a:avLst>
              <a:gd name="adj" fmla="val 16000"/>
            </a:avLst>
          </a:prstGeom>
          <a:solidFill>
            <a:srgbClr val="EDF3F8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45079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3E6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阅读辅助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2350008" y="4507992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数据字典、已知问题清单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5239512" y="450799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读取示例与结构核对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60120" y="5632704"/>
            <a:ext cx="7223760" cy="429768"/>
          </a:xfrm>
          <a:prstGeom prst="roundRect">
            <a:avLst>
              <a:gd name="adj" fmla="val 25532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15568" y="5669280"/>
            <a:ext cx="6912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F0B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先读《PEMS-BAY课程数据包说明》，不要用预览样例代替正式分析。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/Documents/Textbook-big data in engineering/授课计划/附件1：学校横版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"/>
            <a:ext cx="1353312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46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《交通大数据分析与应用》· PEMS-BAY课程项目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302752" y="14630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93776" y="557784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740664"/>
            <a:ext cx="45720" cy="329184"/>
          </a:xfrm>
          <a:prstGeom prst="rect">
            <a:avLst>
              <a:gd name="adj" fmla="val 240000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685800"/>
            <a:ext cx="7040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读懂速度数据，也读懂它的边界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552944" y="74980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6952" y="758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数据边界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" y="6519672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PEMS-BAY课程项目任务说明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" y="1417320"/>
            <a:ext cx="3858768" cy="3346704"/>
          </a:xfrm>
          <a:prstGeom prst="roundRect">
            <a:avLst>
              <a:gd name="adj" fmla="val 3279"/>
            </a:avLst>
          </a:prstGeom>
          <a:solidFill>
            <a:srgbClr val="EDF3F8"/>
          </a:solidFill>
          <a:ln w="10160">
            <a:solidFill>
              <a:srgbClr val="3E6A8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" y="1417320"/>
            <a:ext cx="3858768" cy="41148"/>
          </a:xfrm>
          <a:prstGeom prst="rect">
            <a:avLst>
              <a:gd name="adj" fmla="val 266667"/>
            </a:avLst>
          </a:prstGeom>
          <a:solidFill>
            <a:srgbClr val="3E6A8D"/>
          </a:solidFill>
          <a:ln w="12700">
            <a:solidFill>
              <a:srgbClr val="3E6A8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1563624"/>
            <a:ext cx="3547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3E6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分析前要处理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68096" y="2249424"/>
            <a:ext cx="354787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0值不能不加说明地当作真实停车；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3月12日凌晨有全网同步的时间缺口；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持续时间、滞后与预测须核对5分钟间隔。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663440" y="1417320"/>
            <a:ext cx="3858768" cy="3346704"/>
          </a:xfrm>
          <a:prstGeom prst="roundRect">
            <a:avLst>
              <a:gd name="adj" fmla="val 3279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1417320"/>
            <a:ext cx="3858768" cy="41148"/>
          </a:xfrm>
          <a:prstGeom prst="rect">
            <a:avLst>
              <a:gd name="adj" fmla="val 266667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18888" y="1563624"/>
            <a:ext cx="3547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C30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现有字段不能证明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4818888" y="2249424"/>
            <a:ext cx="354787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低速的具体成因；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流量、道路容量或车辆总延误；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某项管理措施带来的因果效果。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60120" y="5230368"/>
            <a:ext cx="7223760" cy="429768"/>
          </a:xfrm>
          <a:prstGeom prst="roundRect">
            <a:avLst>
              <a:gd name="adj" fmla="val 25532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5568" y="5266944"/>
            <a:ext cx="6912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20" b="1" dirty="0">
                <a:solidFill>
                  <a:srgbClr val="8F0B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站点是点位观测；坐标或站点关系不能直接证明道路方向与传播机制。</a:t>
            </a:r>
            <a:endParaRPr lang="en-US" sz="1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/Documents/Textbook-big data in engineering/授课计划/附件1：学校横版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"/>
            <a:ext cx="1353312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46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《交通大数据分析与应用》· PEMS-BAY课程项目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302752" y="14630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93776" y="557784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740664"/>
            <a:ext cx="45720" cy="329184"/>
          </a:xfrm>
          <a:prstGeom prst="rect">
            <a:avLst>
              <a:gd name="adj" fmla="val 240000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685800"/>
            <a:ext cx="7040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八个场景｜治理优先级与高峰管理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552944" y="74980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6952" y="758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场景1—2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" y="6519672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PEMS-BAY课程项目任务说明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1353312"/>
            <a:ext cx="7863840" cy="2112264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1353312"/>
            <a:ext cx="82296" cy="2112264"/>
          </a:xfrm>
          <a:prstGeom prst="rect">
            <a:avLst>
              <a:gd name="adj" fmla="val 133333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0392" y="1490472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49961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30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项目一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783080" y="1453896"/>
            <a:ext cx="6364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有限预算下的拥堵治理排序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877824" y="1975104"/>
            <a:ext cx="7278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1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道路管理部门只能优先关注三个位置。</a:t>
            </a:r>
            <a:endParaRPr lang="en-US" sz="1610" dirty="0"/>
          </a:p>
        </p:txBody>
      </p:sp>
      <p:sp>
        <p:nvSpPr>
          <p:cNvPr id="18" name="Text 15"/>
          <p:cNvSpPr/>
          <p:nvPr/>
        </p:nvSpPr>
        <p:spPr>
          <a:xfrm>
            <a:off x="877824" y="2386584"/>
            <a:ext cx="7269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C30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要回答：如何形成透明、可复核的优先顺序？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77824" y="2971800"/>
            <a:ext cx="7269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2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入手想一想：排序是否随判断标准或月份改变？</a:t>
            </a:r>
            <a:endParaRPr lang="en-US" sz="1520" dirty="0"/>
          </a:p>
        </p:txBody>
      </p:sp>
      <p:sp>
        <p:nvSpPr>
          <p:cNvPr id="20" name="Shape 17"/>
          <p:cNvSpPr/>
          <p:nvPr/>
        </p:nvSpPr>
        <p:spPr>
          <a:xfrm>
            <a:off x="640080" y="3657600"/>
            <a:ext cx="7863840" cy="2112264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3657600"/>
            <a:ext cx="82296" cy="2112264"/>
          </a:xfrm>
          <a:prstGeom prst="rect">
            <a:avLst>
              <a:gd name="adj" fmla="val 133333"/>
            </a:avLst>
          </a:prstGeom>
          <a:solidFill>
            <a:srgbClr val="3E6A8D"/>
          </a:solidFill>
          <a:ln w="12700">
            <a:solidFill>
              <a:srgbClr val="3E6A8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0392" y="3794760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EDF3F8"/>
          </a:solidFill>
          <a:ln w="10160">
            <a:solidFill>
              <a:srgbClr val="3E6A8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380390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3E6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项目二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783080" y="3758184"/>
            <a:ext cx="6364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早晚高峰是否需要差异化管理</a:t>
            </a:r>
            <a:endParaRPr lang="en-US" sz="2050" dirty="0"/>
          </a:p>
        </p:txBody>
      </p:sp>
      <p:sp>
        <p:nvSpPr>
          <p:cNvPr id="25" name="Text 22"/>
          <p:cNvSpPr/>
          <p:nvPr/>
        </p:nvSpPr>
        <p:spPr>
          <a:xfrm>
            <a:off x="877824" y="4279392"/>
            <a:ext cx="7278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1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运行中心正在使用同一套高峰监测安排。</a:t>
            </a:r>
            <a:endParaRPr lang="en-US" sz="1610" dirty="0"/>
          </a:p>
        </p:txBody>
      </p:sp>
      <p:sp>
        <p:nvSpPr>
          <p:cNvPr id="26" name="Text 23"/>
          <p:cNvSpPr/>
          <p:nvPr/>
        </p:nvSpPr>
        <p:spPr>
          <a:xfrm>
            <a:off x="877824" y="4690872"/>
            <a:ext cx="7269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3E6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要回答：哪些位置需要早晚高峰不同的管理？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77824" y="5276088"/>
            <a:ext cx="7269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2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入手想一想：比较空间分布，也检查结论是否稳定。</a:t>
            </a:r>
            <a:endParaRPr lang="en-US" sz="15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/Documents/Textbook-big data in engineering/授课计划/附件1：学校横版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"/>
            <a:ext cx="1353312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46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《交通大数据分析与应用》· PEMS-BAY课程项目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302752" y="14630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93776" y="557784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740664"/>
            <a:ext cx="45720" cy="329184"/>
          </a:xfrm>
          <a:prstGeom prst="rect">
            <a:avLst>
              <a:gd name="adj" fmla="val 240000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685800"/>
            <a:ext cx="7040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八个场景｜异常日期与拥堵事件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552944" y="74980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6952" y="758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场景3—4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" y="6519672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PEMS-BAY课程项目任务说明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1353312"/>
            <a:ext cx="7863840" cy="2112264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1353312"/>
            <a:ext cx="82296" cy="2112264"/>
          </a:xfrm>
          <a:prstGeom prst="rect">
            <a:avLst>
              <a:gd name="adj" fmla="val 133333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0392" y="1490472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49961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30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项目三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783080" y="1453896"/>
            <a:ext cx="6364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特殊日期的运行保障识别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877824" y="1975104"/>
            <a:ext cx="7278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1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某日全网平均速度正常，也可能藏着局部问题。</a:t>
            </a:r>
            <a:endParaRPr lang="en-US" sz="1610" dirty="0"/>
          </a:p>
        </p:txBody>
      </p:sp>
      <p:sp>
        <p:nvSpPr>
          <p:cNvPr id="18" name="Text 15"/>
          <p:cNvSpPr/>
          <p:nvPr/>
        </p:nvSpPr>
        <p:spPr>
          <a:xfrm>
            <a:off x="877824" y="2386584"/>
            <a:ext cx="7269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C30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要回答：怎样找到与通常同类日期明显不同的运行日？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77824" y="2971800"/>
            <a:ext cx="7269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2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入手想一想：看异常是否全网、局部或集中在某时段。</a:t>
            </a:r>
            <a:endParaRPr lang="en-US" sz="1520" dirty="0"/>
          </a:p>
        </p:txBody>
      </p:sp>
      <p:sp>
        <p:nvSpPr>
          <p:cNvPr id="20" name="Shape 17"/>
          <p:cNvSpPr/>
          <p:nvPr/>
        </p:nvSpPr>
        <p:spPr>
          <a:xfrm>
            <a:off x="640080" y="3657600"/>
            <a:ext cx="7863840" cy="2112264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3657600"/>
            <a:ext cx="82296" cy="2112264"/>
          </a:xfrm>
          <a:prstGeom prst="rect">
            <a:avLst>
              <a:gd name="adj" fmla="val 133333"/>
            </a:avLst>
          </a:prstGeom>
          <a:solidFill>
            <a:srgbClr val="3E6A8D"/>
          </a:solidFill>
          <a:ln w="12700">
            <a:solidFill>
              <a:srgbClr val="3E6A8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0392" y="3794760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EDF3F8"/>
          </a:solidFill>
          <a:ln w="10160">
            <a:solidFill>
              <a:srgbClr val="3E6A8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380390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3E6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项目四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783080" y="3758184"/>
            <a:ext cx="6364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拥堵事件的持续与恢复管理</a:t>
            </a:r>
            <a:endParaRPr lang="en-US" sz="2050" dirty="0"/>
          </a:p>
        </p:txBody>
      </p:sp>
      <p:sp>
        <p:nvSpPr>
          <p:cNvPr id="25" name="Text 22"/>
          <p:cNvSpPr/>
          <p:nvPr/>
        </p:nvSpPr>
        <p:spPr>
          <a:xfrm>
            <a:off x="877824" y="4279392"/>
            <a:ext cx="7278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1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短暂波动与长期低速的处置价值并不相同。</a:t>
            </a:r>
            <a:endParaRPr lang="en-US" sz="1610" dirty="0"/>
          </a:p>
        </p:txBody>
      </p:sp>
      <p:sp>
        <p:nvSpPr>
          <p:cNvPr id="26" name="Text 23"/>
          <p:cNvSpPr/>
          <p:nvPr/>
        </p:nvSpPr>
        <p:spPr>
          <a:xfrm>
            <a:off x="877824" y="4690872"/>
            <a:ext cx="7269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3E6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要回答：怎样定义事件并比较持续、严重和恢复？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77824" y="5276088"/>
            <a:ext cx="7269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2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入手想一想：事件规则要能处理短暂间断和时间缺口。</a:t>
            </a:r>
            <a:endParaRPr lang="en-US" sz="15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/Documents/Textbook-big data in engineering/授课计划/附件1：学校横版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"/>
            <a:ext cx="1353312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46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《交通大数据分析与应用》· PEMS-BAY课程项目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302752" y="14630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93776" y="557784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740664"/>
            <a:ext cx="45720" cy="329184"/>
          </a:xfrm>
          <a:prstGeom prst="rect">
            <a:avLst>
              <a:gd name="adj" fmla="val 240000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685800"/>
            <a:ext cx="7040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八个场景｜邻站预警与短时预测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552944" y="74980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6952" y="758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场景5—6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" y="6519672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PEMS-BAY课程项目任务说明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1353312"/>
            <a:ext cx="7863840" cy="2112264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1353312"/>
            <a:ext cx="82296" cy="2112264"/>
          </a:xfrm>
          <a:prstGeom prst="rect">
            <a:avLst>
              <a:gd name="adj" fmla="val 133333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0392" y="1490472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49961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30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项目五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783080" y="1453896"/>
            <a:ext cx="6364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相邻站点能否提供拥堵传播预警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877824" y="1975104"/>
            <a:ext cx="7278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1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中心站点降速时，附近站点可能同步或先行变化。</a:t>
            </a:r>
            <a:endParaRPr lang="en-US" sz="1610" dirty="0"/>
          </a:p>
        </p:txBody>
      </p:sp>
      <p:sp>
        <p:nvSpPr>
          <p:cNvPr id="18" name="Text 15"/>
          <p:cNvSpPr/>
          <p:nvPr/>
        </p:nvSpPr>
        <p:spPr>
          <a:xfrm>
            <a:off x="877824" y="2386584"/>
            <a:ext cx="7269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C30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要回答：哪些邻站能提供稳定的提前信号？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77824" y="2971800"/>
            <a:ext cx="7269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2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入手想一想：统计领先不等于证明道路上的因果传播。</a:t>
            </a:r>
            <a:endParaRPr lang="en-US" sz="1520" dirty="0"/>
          </a:p>
        </p:txBody>
      </p:sp>
      <p:sp>
        <p:nvSpPr>
          <p:cNvPr id="20" name="Shape 17"/>
          <p:cNvSpPr/>
          <p:nvPr/>
        </p:nvSpPr>
        <p:spPr>
          <a:xfrm>
            <a:off x="640080" y="3657600"/>
            <a:ext cx="7863840" cy="2112264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3657600"/>
            <a:ext cx="82296" cy="2112264"/>
          </a:xfrm>
          <a:prstGeom prst="rect">
            <a:avLst>
              <a:gd name="adj" fmla="val 133333"/>
            </a:avLst>
          </a:prstGeom>
          <a:solidFill>
            <a:srgbClr val="3E6A8D"/>
          </a:solidFill>
          <a:ln w="12700">
            <a:solidFill>
              <a:srgbClr val="3E6A8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0392" y="3794760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EDF3F8"/>
          </a:solidFill>
          <a:ln w="10160">
            <a:solidFill>
              <a:srgbClr val="3E6A8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380390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3E6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项目六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783080" y="3758184"/>
            <a:ext cx="6364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未来15分钟交通信息发布</a:t>
            </a:r>
            <a:endParaRPr lang="en-US" sz="2050" dirty="0"/>
          </a:p>
        </p:txBody>
      </p:sp>
      <p:sp>
        <p:nvSpPr>
          <p:cNvPr id="25" name="Text 22"/>
          <p:cNvSpPr/>
          <p:nvPr/>
        </p:nvSpPr>
        <p:spPr>
          <a:xfrm>
            <a:off x="877824" y="4279392"/>
            <a:ext cx="7278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1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平台想知道复杂分析是否比沿用当前速度更好。</a:t>
            </a:r>
            <a:endParaRPr lang="en-US" sz="1610" dirty="0"/>
          </a:p>
        </p:txBody>
      </p:sp>
      <p:sp>
        <p:nvSpPr>
          <p:cNvPr id="26" name="Text 23"/>
          <p:cNvSpPr/>
          <p:nvPr/>
        </p:nvSpPr>
        <p:spPr>
          <a:xfrm>
            <a:off x="877824" y="4690872"/>
            <a:ext cx="7269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3E6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要回答：预测是否稳定改善，何时容易出错？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77824" y="5276088"/>
            <a:ext cx="7269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2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入手想一想：注意时间划分与高风险时段的误差。</a:t>
            </a:r>
            <a:endParaRPr lang="en-US" sz="15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/Documents/Textbook-big data in engineering/授课计划/附件1：学校横版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"/>
            <a:ext cx="1353312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46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《交通大数据分析与应用》· PEMS-BAY课程项目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302752" y="14630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93776" y="557784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740664"/>
            <a:ext cx="45720" cy="329184"/>
          </a:xfrm>
          <a:prstGeom prst="rect">
            <a:avLst>
              <a:gd name="adj" fmla="val 240000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685800"/>
            <a:ext cx="7040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八个场景｜有限核查与站点维护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552944" y="74980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6952" y="758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场景7—8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" y="6519672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PEMS-BAY课程项目任务说明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1353312"/>
            <a:ext cx="7863840" cy="2112264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1353312"/>
            <a:ext cx="82296" cy="2112264"/>
          </a:xfrm>
          <a:prstGeom prst="rect">
            <a:avLst>
              <a:gd name="adj" fmla="val 133333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0392" y="1490472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49961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30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项目七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783080" y="1453896"/>
            <a:ext cx="6364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每个时段最多核查三个位置的拥堵预警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877824" y="1975104"/>
            <a:ext cx="7278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1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运行中心每15分钟至多重点核查三个位置。</a:t>
            </a:r>
            <a:endParaRPr lang="en-US" sz="1610" dirty="0"/>
          </a:p>
        </p:txBody>
      </p:sp>
      <p:sp>
        <p:nvSpPr>
          <p:cNvPr id="18" name="Text 15"/>
          <p:cNvSpPr/>
          <p:nvPr/>
        </p:nvSpPr>
        <p:spPr>
          <a:xfrm>
            <a:off x="877824" y="2386584"/>
            <a:ext cx="7269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C30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要回答：怎样在资源上限下兼顾漏报与误报？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77824" y="2971800"/>
            <a:ext cx="7269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2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入手想一想：评价能否真正选出值得核查的位置。</a:t>
            </a:r>
            <a:endParaRPr lang="en-US" sz="1520" dirty="0"/>
          </a:p>
        </p:txBody>
      </p:sp>
      <p:sp>
        <p:nvSpPr>
          <p:cNvPr id="20" name="Shape 17"/>
          <p:cNvSpPr/>
          <p:nvPr/>
        </p:nvSpPr>
        <p:spPr>
          <a:xfrm>
            <a:off x="640080" y="3657600"/>
            <a:ext cx="7863840" cy="2112264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3657600"/>
            <a:ext cx="82296" cy="2112264"/>
          </a:xfrm>
          <a:prstGeom prst="rect">
            <a:avLst>
              <a:gd name="adj" fmla="val 133333"/>
            </a:avLst>
          </a:prstGeom>
          <a:solidFill>
            <a:srgbClr val="3E6A8D"/>
          </a:solidFill>
          <a:ln w="12700">
            <a:solidFill>
              <a:srgbClr val="3E6A8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0392" y="3794760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EDF3F8"/>
          </a:solidFill>
          <a:ln w="10160">
            <a:solidFill>
              <a:srgbClr val="3E6A8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380390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3E6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项目八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783080" y="3758184"/>
            <a:ext cx="6364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有限维护资源下的检测站优先级</a:t>
            </a:r>
            <a:endParaRPr lang="en-US" sz="2050" dirty="0"/>
          </a:p>
        </p:txBody>
      </p:sp>
      <p:sp>
        <p:nvSpPr>
          <p:cNvPr id="25" name="Text 22"/>
          <p:cNvSpPr/>
          <p:nvPr/>
        </p:nvSpPr>
        <p:spPr>
          <a:xfrm>
            <a:off x="877824" y="4279392"/>
            <a:ext cx="7278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1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少数检测站故障可能造成不同程度的信息损失。</a:t>
            </a:r>
            <a:endParaRPr lang="en-US" sz="1610" dirty="0"/>
          </a:p>
        </p:txBody>
      </p:sp>
      <p:sp>
        <p:nvSpPr>
          <p:cNvPr id="26" name="Text 23"/>
          <p:cNvSpPr/>
          <p:nvPr/>
        </p:nvSpPr>
        <p:spPr>
          <a:xfrm>
            <a:off x="877824" y="4690872"/>
            <a:ext cx="7269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3E6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要回答：只能先维护五个站点，应如何排序？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77824" y="5276088"/>
            <a:ext cx="7269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2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入手想一想：区分交通问题严重与数据不可替代。</a:t>
            </a:r>
            <a:endParaRPr lang="en-US" sz="15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/Documents/Textbook-big data in engineering/授课计划/附件1：学校横版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"/>
            <a:ext cx="1353312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46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《交通大数据分析与应用》· PEMS-BAY课程项目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302752" y="14630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93776" y="557784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740664"/>
            <a:ext cx="45720" cy="329184"/>
          </a:xfrm>
          <a:prstGeom prst="rect">
            <a:avLst>
              <a:gd name="adj" fmla="val 240000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685800"/>
            <a:ext cx="7040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八个场景不同，共同的分析任务相同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552944" y="74980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6952" y="758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共同要求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" y="6519672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PEMS-BAY课程项目任务说明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" y="1408176"/>
            <a:ext cx="3858768" cy="1115568"/>
          </a:xfrm>
          <a:prstGeom prst="roundRect">
            <a:avLst>
              <a:gd name="adj" fmla="val 9836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15819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335024" y="15544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说清决策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335024" y="2029968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4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一个主问题、2—3个相衔接的子问题</a:t>
            </a:r>
            <a:endParaRPr lang="en-US" sz="1440" dirty="0"/>
          </a:p>
        </p:txBody>
      </p:sp>
      <p:sp>
        <p:nvSpPr>
          <p:cNvPr id="16" name="Shape 13"/>
          <p:cNvSpPr/>
          <p:nvPr/>
        </p:nvSpPr>
        <p:spPr>
          <a:xfrm>
            <a:off x="4681728" y="1408176"/>
            <a:ext cx="3858768" cy="1115568"/>
          </a:xfrm>
          <a:prstGeom prst="roundRect">
            <a:avLst>
              <a:gd name="adj" fmla="val 9836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28032" y="15819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404104" y="15544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定好对象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404104" y="2029968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4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时间、空间、观测单位和核心指标</a:t>
            </a:r>
            <a:endParaRPr lang="en-US" sz="1440" dirty="0"/>
          </a:p>
        </p:txBody>
      </p:sp>
      <p:sp>
        <p:nvSpPr>
          <p:cNvPr id="20" name="Shape 17"/>
          <p:cNvSpPr/>
          <p:nvPr/>
        </p:nvSpPr>
        <p:spPr>
          <a:xfrm>
            <a:off x="612648" y="2761488"/>
            <a:ext cx="3858768" cy="1115568"/>
          </a:xfrm>
          <a:prstGeom prst="roundRect">
            <a:avLst>
              <a:gd name="adj" fmla="val 9836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8952" y="29352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335024" y="29077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处理质量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335024" y="338328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4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0值、时间缺口以及处理理由</a:t>
            </a:r>
            <a:endParaRPr lang="en-US" sz="1440" dirty="0"/>
          </a:p>
        </p:txBody>
      </p:sp>
      <p:sp>
        <p:nvSpPr>
          <p:cNvPr id="24" name="Shape 21"/>
          <p:cNvSpPr/>
          <p:nvPr/>
        </p:nvSpPr>
        <p:spPr>
          <a:xfrm>
            <a:off x="4681728" y="2761488"/>
            <a:ext cx="3858768" cy="1115568"/>
          </a:xfrm>
          <a:prstGeom prst="roundRect">
            <a:avLst>
              <a:gd name="adj" fmla="val 9836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28032" y="29352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404104" y="29077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建立基准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404104" y="338328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4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先有简单、透明的比较或判断规则</a:t>
            </a:r>
            <a:endParaRPr lang="en-US" sz="1440" dirty="0"/>
          </a:p>
        </p:txBody>
      </p:sp>
      <p:sp>
        <p:nvSpPr>
          <p:cNvPr id="28" name="Shape 25"/>
          <p:cNvSpPr/>
          <p:nvPr/>
        </p:nvSpPr>
        <p:spPr>
          <a:xfrm>
            <a:off x="612648" y="4114800"/>
            <a:ext cx="3858768" cy="1115568"/>
          </a:xfrm>
          <a:prstGeom prst="roundRect">
            <a:avLst>
              <a:gd name="adj" fmla="val 9836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8952" y="42885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335024" y="42611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验证结论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1335024" y="473659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4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至少一项比较或稳健性检查</a:t>
            </a:r>
            <a:endParaRPr lang="en-US" sz="1440" dirty="0"/>
          </a:p>
        </p:txBody>
      </p:sp>
      <p:sp>
        <p:nvSpPr>
          <p:cNvPr id="32" name="Shape 29"/>
          <p:cNvSpPr/>
          <p:nvPr/>
        </p:nvSpPr>
        <p:spPr>
          <a:xfrm>
            <a:off x="4681728" y="4114800"/>
            <a:ext cx="3858768" cy="1115568"/>
          </a:xfrm>
          <a:prstGeom prst="roundRect">
            <a:avLst>
              <a:gd name="adj" fmla="val 9836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28032" y="42885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5404104" y="42611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回到管理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5404104" y="473659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4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深入解释、具体局限和有条件的建议</a:t>
            </a:r>
            <a:endParaRPr lang="en-US" sz="1440" dirty="0"/>
          </a:p>
        </p:txBody>
      </p:sp>
      <p:sp>
        <p:nvSpPr>
          <p:cNvPr id="36" name="Shape 33"/>
          <p:cNvSpPr/>
          <p:nvPr/>
        </p:nvSpPr>
        <p:spPr>
          <a:xfrm>
            <a:off x="960120" y="5815584"/>
            <a:ext cx="7223760" cy="429768"/>
          </a:xfrm>
          <a:prstGeom prst="roundRect">
            <a:avLst>
              <a:gd name="adj" fmla="val 25532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15568" y="5852160"/>
            <a:ext cx="6912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8F0B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算法与图表是回答交通问题的工具，不是项目目标本身。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/Documents/Textbook-big data in engineering/授课计划/附件1：学校横版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"/>
            <a:ext cx="1353312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46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《交通大数据分析与应用》· PEMS-BAY课程项目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302752" y="14630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93776" y="557784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740664"/>
            <a:ext cx="45720" cy="329184"/>
          </a:xfrm>
          <a:prstGeom prst="rect">
            <a:avLst>
              <a:gd name="adj" fmla="val 240000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685800"/>
            <a:ext cx="7040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小组汇报｜10分钟陈述＋5分钟问答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552944" y="74980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6952" y="758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第12周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" y="6519672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PEMS-BAY课程项目任务说明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1371600"/>
            <a:ext cx="7863840" cy="804672"/>
          </a:xfrm>
          <a:prstGeom prst="roundRect">
            <a:avLst>
              <a:gd name="adj" fmla="val 13636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1508760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499616" y="1508760"/>
            <a:ext cx="1856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场景与问题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401568" y="1527048"/>
            <a:ext cx="4828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谁在作决定？问题如何落到数据？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640080" y="2350008"/>
            <a:ext cx="7863840" cy="804672"/>
          </a:xfrm>
          <a:prstGeom prst="roundRect">
            <a:avLst>
              <a:gd name="adj" fmla="val 13636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5528" y="248716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499616" y="2487168"/>
            <a:ext cx="1856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数据与设计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401568" y="2505456"/>
            <a:ext cx="4828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分析单位、质量处理、基准与验证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640080" y="3328416"/>
            <a:ext cx="7863840" cy="804672"/>
          </a:xfrm>
          <a:prstGeom prst="roundRect">
            <a:avLst>
              <a:gd name="adj" fmla="val 13636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5528" y="3465576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1499616" y="3465576"/>
            <a:ext cx="1856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关键证据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401568" y="3483864"/>
            <a:ext cx="4828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用3—5幅关键图表回答问题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640080" y="4306824"/>
            <a:ext cx="7863840" cy="804672"/>
          </a:xfrm>
          <a:prstGeom prst="roundRect">
            <a:avLst>
              <a:gd name="adj" fmla="val 13636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5528" y="444398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1499616" y="4443984"/>
            <a:ext cx="1856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结论与边界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3401568" y="4462272"/>
            <a:ext cx="4828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解释、局限、管理建议与最终回答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640080" y="5650992"/>
            <a:ext cx="7863840" cy="429768"/>
          </a:xfrm>
          <a:prstGeom prst="roundRect">
            <a:avLst>
              <a:gd name="adj" fmla="val 25532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" y="5687568"/>
            <a:ext cx="7552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60" b="1" dirty="0">
                <a:solidFill>
                  <a:srgbClr val="8F0B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每组提交汇报PPT、可运行代码／Notebook及运行说明；10分钟到时进入问答。</a:t>
            </a:r>
            <a:endParaRPr lang="en-US" sz="15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/Documents/Textbook-big data in engineering/授课计划/附件1：学校横版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"/>
            <a:ext cx="1353312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46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《交通大数据分析与应用》· PEMS-BAY课程项目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302752" y="14630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93776" y="557784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740664"/>
            <a:ext cx="45720" cy="329184"/>
          </a:xfrm>
          <a:prstGeom prst="rect">
            <a:avLst>
              <a:gd name="adj" fmla="val 240000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685800"/>
            <a:ext cx="7040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个人报告｜每人独立提交、独立评分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552944" y="74980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6952" y="758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50%个人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" y="6519672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PEMS-BAY课程项目任务说明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1792" y="1389888"/>
            <a:ext cx="2450592" cy="3584448"/>
          </a:xfrm>
          <a:prstGeom prst="roundRect">
            <a:avLst>
              <a:gd name="adj" fmla="val 4478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1801368"/>
            <a:ext cx="20848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3000—5000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95528" y="2523744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字（正文建议）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41248" y="342900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图表、参考文献和附录不计入正文篇幅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401568" y="1399032"/>
            <a:ext cx="2340864" cy="758952"/>
          </a:xfrm>
          <a:prstGeom prst="roundRect">
            <a:avLst>
              <a:gd name="adj" fmla="val 14458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11296" y="157276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886200" y="1499616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2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场景理解与问题表述</a:t>
            </a:r>
            <a:endParaRPr lang="en-US" sz="1520" dirty="0"/>
          </a:p>
        </p:txBody>
      </p:sp>
      <p:sp>
        <p:nvSpPr>
          <p:cNvPr id="19" name="Shape 16"/>
          <p:cNvSpPr/>
          <p:nvPr/>
        </p:nvSpPr>
        <p:spPr>
          <a:xfrm>
            <a:off x="3401568" y="2350008"/>
            <a:ext cx="2340864" cy="758952"/>
          </a:xfrm>
          <a:prstGeom prst="roundRect">
            <a:avLst>
              <a:gd name="adj" fmla="val 14458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11296" y="252374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3886200" y="2450592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2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数据和质量处理</a:t>
            </a:r>
            <a:endParaRPr lang="en-US" sz="1520" dirty="0"/>
          </a:p>
        </p:txBody>
      </p:sp>
      <p:sp>
        <p:nvSpPr>
          <p:cNvPr id="22" name="Shape 19"/>
          <p:cNvSpPr/>
          <p:nvPr/>
        </p:nvSpPr>
        <p:spPr>
          <a:xfrm>
            <a:off x="3401568" y="3300984"/>
            <a:ext cx="2340864" cy="758952"/>
          </a:xfrm>
          <a:prstGeom prst="roundRect">
            <a:avLst>
              <a:gd name="adj" fmla="val 14458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11296" y="347472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3886200" y="3401568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2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方法选择与验证设计</a:t>
            </a:r>
            <a:endParaRPr lang="en-US" sz="1520" dirty="0"/>
          </a:p>
        </p:txBody>
      </p:sp>
      <p:sp>
        <p:nvSpPr>
          <p:cNvPr id="25" name="Shape 22"/>
          <p:cNvSpPr/>
          <p:nvPr/>
        </p:nvSpPr>
        <p:spPr>
          <a:xfrm>
            <a:off x="3401568" y="4251960"/>
            <a:ext cx="2340864" cy="758952"/>
          </a:xfrm>
          <a:prstGeom prst="roundRect">
            <a:avLst>
              <a:gd name="adj" fmla="val 14458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511296" y="4425696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3886200" y="4352544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2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图表与主要结果</a:t>
            </a:r>
            <a:endParaRPr lang="en-US" sz="1520" dirty="0"/>
          </a:p>
        </p:txBody>
      </p:sp>
      <p:sp>
        <p:nvSpPr>
          <p:cNvPr id="28" name="Shape 25"/>
          <p:cNvSpPr/>
          <p:nvPr/>
        </p:nvSpPr>
        <p:spPr>
          <a:xfrm>
            <a:off x="5961888" y="1399032"/>
            <a:ext cx="2340864" cy="758952"/>
          </a:xfrm>
          <a:prstGeom prst="roundRect">
            <a:avLst>
              <a:gd name="adj" fmla="val 14458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71616" y="157276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6446520" y="1499616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2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结果的深入解释</a:t>
            </a:r>
            <a:endParaRPr lang="en-US" sz="1520" dirty="0"/>
          </a:p>
        </p:txBody>
      </p:sp>
      <p:sp>
        <p:nvSpPr>
          <p:cNvPr id="31" name="Shape 28"/>
          <p:cNvSpPr/>
          <p:nvPr/>
        </p:nvSpPr>
        <p:spPr>
          <a:xfrm>
            <a:off x="5961888" y="2350008"/>
            <a:ext cx="2340864" cy="758952"/>
          </a:xfrm>
          <a:prstGeom prst="roundRect">
            <a:avLst>
              <a:gd name="adj" fmla="val 14458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71616" y="252374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6446520" y="2450592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2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局限性讨论</a:t>
            </a:r>
            <a:endParaRPr lang="en-US" sz="1520" dirty="0"/>
          </a:p>
        </p:txBody>
      </p:sp>
      <p:sp>
        <p:nvSpPr>
          <p:cNvPr id="34" name="Shape 31"/>
          <p:cNvSpPr/>
          <p:nvPr/>
        </p:nvSpPr>
        <p:spPr>
          <a:xfrm>
            <a:off x="5961888" y="3300984"/>
            <a:ext cx="2340864" cy="758952"/>
          </a:xfrm>
          <a:prstGeom prst="roundRect">
            <a:avLst>
              <a:gd name="adj" fmla="val 14458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71616" y="347472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6446520" y="3401568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2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交通管理建议</a:t>
            </a:r>
            <a:endParaRPr lang="en-US" sz="1520" dirty="0"/>
          </a:p>
        </p:txBody>
      </p:sp>
      <p:sp>
        <p:nvSpPr>
          <p:cNvPr id="37" name="Shape 34"/>
          <p:cNvSpPr/>
          <p:nvPr/>
        </p:nvSpPr>
        <p:spPr>
          <a:xfrm>
            <a:off x="5961888" y="4251960"/>
            <a:ext cx="2340864" cy="758952"/>
          </a:xfrm>
          <a:prstGeom prst="roundRect">
            <a:avLst>
              <a:gd name="adj" fmla="val 14458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71616" y="4425696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6446520" y="4352544"/>
            <a:ext cx="1728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2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520" dirty="0"/>
          </a:p>
        </p:txBody>
      </p:sp>
      <p:sp>
        <p:nvSpPr>
          <p:cNvPr id="40" name="Shape 37"/>
          <p:cNvSpPr/>
          <p:nvPr/>
        </p:nvSpPr>
        <p:spPr>
          <a:xfrm>
            <a:off x="960120" y="5577840"/>
            <a:ext cx="7223760" cy="429768"/>
          </a:xfrm>
          <a:prstGeom prst="roundRect">
            <a:avLst>
              <a:gd name="adj" fmla="val 25532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115568" y="5614416"/>
            <a:ext cx="6912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10" b="1" dirty="0">
                <a:solidFill>
                  <a:srgbClr val="8F0B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尤其要独立解释发现、讨论局限，并提出与证据对应的管理建议。</a:t>
            </a:r>
            <a:endParaRPr lang="en-US" sz="16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/Documents/Textbook-big data in engineering/授课计划/附件1：学校横版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"/>
            <a:ext cx="1353312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46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《交通大数据分析与应用》· PEMS-BAY课程项目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302752" y="14630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93776" y="557784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740664"/>
            <a:ext cx="45720" cy="329184"/>
          </a:xfrm>
          <a:prstGeom prst="rect">
            <a:avLst>
              <a:gd name="adj" fmla="val 240000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685800"/>
            <a:ext cx="7040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同组可以共用结果，文字必须自己写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552944" y="74980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6952" y="758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独立撰写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" y="6519672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PEMS-BAY课程项目任务说明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1417320"/>
            <a:ext cx="3803904" cy="3429000"/>
          </a:xfrm>
          <a:prstGeom prst="roundRect">
            <a:avLst>
              <a:gd name="adj" fmla="val 3200"/>
            </a:avLst>
          </a:prstGeom>
          <a:solidFill>
            <a:srgbClr val="EDF3F8"/>
          </a:solidFill>
          <a:ln w="10160">
            <a:solidFill>
              <a:srgbClr val="3E6A8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1417320"/>
            <a:ext cx="3803904" cy="41148"/>
          </a:xfrm>
          <a:prstGeom prst="rect">
            <a:avLst>
              <a:gd name="adj" fmla="val 266667"/>
            </a:avLst>
          </a:prstGeom>
          <a:solidFill>
            <a:srgbClr val="3E6A8D"/>
          </a:solidFill>
          <a:ln w="12700">
            <a:solidFill>
              <a:srgbClr val="3E6A8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" y="1563624"/>
            <a:ext cx="34930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3E6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可以组内共用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95528" y="2240280"/>
            <a:ext cx="349300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核心问题与分析框架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数据处理代码与Notebook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计算结果、模型输出和图表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共同使用的参考文献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700016" y="1417320"/>
            <a:ext cx="3803904" cy="3429000"/>
          </a:xfrm>
          <a:prstGeom prst="roundRect">
            <a:avLst>
              <a:gd name="adj" fmla="val 3200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0016" y="1417320"/>
            <a:ext cx="3803904" cy="41148"/>
          </a:xfrm>
          <a:prstGeom prst="rect">
            <a:avLst>
              <a:gd name="adj" fmla="val 266667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55464" y="1563624"/>
            <a:ext cx="34930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C30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必须独立撰写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4855464" y="2240280"/>
            <a:ext cx="349300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场景、数据与方法说明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图表标题、图注和表注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结果解释与局限性讨论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管理建议、结论及其他正文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60120" y="5285232"/>
            <a:ext cx="7223760" cy="429768"/>
          </a:xfrm>
          <a:prstGeom prst="roundRect">
            <a:avLst>
              <a:gd name="adj" fmla="val 25532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5568" y="5321808"/>
            <a:ext cx="6912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80" b="1" dirty="0">
                <a:solidFill>
                  <a:srgbClr val="8F0B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相同图表可以出现；相同的分析性文字不能出现。报告需附独立撰写声明。</a:t>
            </a:r>
            <a:endParaRPr lang="en-US" sz="15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/Documents/Textbook-big data in engineering/授课计划/附件1：学校横版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"/>
            <a:ext cx="1353312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46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《交通大数据分析与应用》· PEMS-BAY课程项目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302752" y="14630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93776" y="557784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740664"/>
            <a:ext cx="45720" cy="329184"/>
          </a:xfrm>
          <a:prstGeom prst="rect">
            <a:avLst>
              <a:gd name="adj" fmla="val 240000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685800"/>
            <a:ext cx="7040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评分看的是一条可信的分析链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552944" y="74980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6952" y="758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评分重点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" y="6519672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PEMS-BAY课程项目任务说明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" y="1408176"/>
            <a:ext cx="3749040" cy="3584448"/>
          </a:xfrm>
          <a:prstGeom prst="roundRect">
            <a:avLst>
              <a:gd name="adj" fmla="val 3061"/>
            </a:avLst>
          </a:prstGeom>
          <a:solidFill>
            <a:srgbClr val="F5F6F7"/>
          </a:solidFill>
          <a:ln w="10160">
            <a:solidFill>
              <a:srgbClr val="3E6A8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1408176"/>
            <a:ext cx="3749040" cy="41148"/>
          </a:xfrm>
          <a:prstGeom prst="rect">
            <a:avLst>
              <a:gd name="adj" fmla="val 266667"/>
            </a:avLst>
          </a:prstGeom>
          <a:solidFill>
            <a:srgbClr val="3E6A8D"/>
          </a:solidFill>
          <a:ln w="12700">
            <a:solidFill>
              <a:srgbClr val="3E6A8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" y="1554480"/>
            <a:ext cx="34381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3E6A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小组汇报｜30分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13816" y="2231136"/>
            <a:ext cx="3438144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4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场景理解与问题转化　8</a:t>
            </a:r>
            <a:endParaRPr lang="en-US" sz="184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4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数据处理与方法选择　7</a:t>
            </a:r>
            <a:endParaRPr lang="en-US" sz="184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4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结果解释与交通意义　8</a:t>
            </a:r>
            <a:endParaRPr lang="en-US" sz="184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4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汇报表达与现场问答　7</a:t>
            </a:r>
            <a:endParaRPr lang="en-US" sz="1840" dirty="0"/>
          </a:p>
        </p:txBody>
      </p:sp>
      <p:sp>
        <p:nvSpPr>
          <p:cNvPr id="16" name="Shape 13"/>
          <p:cNvSpPr/>
          <p:nvPr/>
        </p:nvSpPr>
        <p:spPr>
          <a:xfrm>
            <a:off x="4736592" y="1408176"/>
            <a:ext cx="3749040" cy="3584448"/>
          </a:xfrm>
          <a:prstGeom prst="roundRect">
            <a:avLst>
              <a:gd name="adj" fmla="val 3061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36592" y="1408176"/>
            <a:ext cx="3749040" cy="41148"/>
          </a:xfrm>
          <a:prstGeom prst="rect">
            <a:avLst>
              <a:gd name="adj" fmla="val 266667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92040" y="1554480"/>
            <a:ext cx="34381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C30D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个人报告｜50分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892040" y="2231136"/>
            <a:ext cx="3438144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4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结果的深入解释　12</a:t>
            </a:r>
            <a:endParaRPr lang="en-US" sz="184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4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局限性讨论　　　7</a:t>
            </a:r>
            <a:endParaRPr lang="en-US" sz="184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4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交通管理建议　　6</a:t>
            </a:r>
            <a:endParaRPr lang="en-US" sz="184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4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其他分析与写作　25</a:t>
            </a:r>
            <a:endParaRPr lang="en-US" sz="1840" dirty="0"/>
          </a:p>
        </p:txBody>
      </p:sp>
      <p:sp>
        <p:nvSpPr>
          <p:cNvPr id="20" name="Shape 17"/>
          <p:cNvSpPr/>
          <p:nvPr/>
        </p:nvSpPr>
        <p:spPr>
          <a:xfrm>
            <a:off x="960120" y="5385816"/>
            <a:ext cx="7223760" cy="429768"/>
          </a:xfrm>
          <a:prstGeom prst="roundRect">
            <a:avLst>
              <a:gd name="adj" fmla="val 25532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5568" y="5422392"/>
            <a:ext cx="6912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8F0B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个人报告中，深入解释＋局限讨论＋管理建议占25分。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i/Documents/Textbook-big data in engineering/授课计划/附件1：学校横版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"/>
            <a:ext cx="1353312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46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《交通大数据分析与应用》· PEMS-BAY课程项目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302752" y="14630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93776" y="557784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740664"/>
            <a:ext cx="45720" cy="329184"/>
          </a:xfrm>
          <a:prstGeom prst="rect">
            <a:avLst>
              <a:gd name="adj" fmla="val 240000"/>
            </a:avLst>
          </a:prstGeom>
          <a:solidFill>
            <a:srgbClr val="C30D23"/>
          </a:solidFill>
          <a:ln w="12700">
            <a:solidFill>
              <a:srgbClr val="C30D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685800"/>
            <a:ext cx="7040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开始项目，先把这三件事做扎实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552944" y="74980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6952" y="75895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起步提示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" y="6519672"/>
            <a:ext cx="8156448" cy="0"/>
          </a:xfrm>
          <a:prstGeom prst="line">
            <a:avLst/>
          </a:prstGeom>
          <a:noFill/>
          <a:ln w="10160">
            <a:solidFill>
              <a:srgbClr val="D9DD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83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58B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PEMS-BAY课程项目任务说明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76656" y="1517904"/>
            <a:ext cx="7772400" cy="1060704"/>
          </a:xfrm>
          <a:prstGeom prst="roundRect">
            <a:avLst>
              <a:gd name="adj" fmla="val 10345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" y="1764792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00200" y="1655064"/>
            <a:ext cx="63825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读任务书与数据说明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00200" y="2112264"/>
            <a:ext cx="6355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4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核对分配的场景、文件、字段和单位。</a:t>
            </a:r>
            <a:endParaRPr lang="en-US" sz="1540" dirty="0"/>
          </a:p>
        </p:txBody>
      </p:sp>
      <p:sp>
        <p:nvSpPr>
          <p:cNvPr id="16" name="Shape 13"/>
          <p:cNvSpPr/>
          <p:nvPr/>
        </p:nvSpPr>
        <p:spPr>
          <a:xfrm>
            <a:off x="676656" y="2843784"/>
            <a:ext cx="7772400" cy="1060704"/>
          </a:xfrm>
          <a:prstGeom prst="roundRect">
            <a:avLst>
              <a:gd name="adj" fmla="val 10345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9536" y="3090672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600200" y="2980944"/>
            <a:ext cx="63825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把场景写成可回答的问题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600200" y="3438144"/>
            <a:ext cx="6355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4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明确决策主体、对象、范围和需要的证据。</a:t>
            </a:r>
            <a:endParaRPr lang="en-US" sz="1540" dirty="0"/>
          </a:p>
        </p:txBody>
      </p:sp>
      <p:sp>
        <p:nvSpPr>
          <p:cNvPr id="20" name="Shape 17"/>
          <p:cNvSpPr/>
          <p:nvPr/>
        </p:nvSpPr>
        <p:spPr>
          <a:xfrm>
            <a:off x="676656" y="4169664"/>
            <a:ext cx="7772400" cy="1060704"/>
          </a:xfrm>
          <a:prstGeom prst="roundRect">
            <a:avLst>
              <a:gd name="adj" fmla="val 10345"/>
            </a:avLst>
          </a:prstGeom>
          <a:solidFill>
            <a:srgbClr val="F5F6F7"/>
          </a:solidFill>
          <a:ln w="10160">
            <a:solidFill>
              <a:srgbClr val="D9DD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9536" y="4416552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C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600200" y="4306824"/>
            <a:ext cx="63825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跑通数据读取与质量检查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600200" y="4764024"/>
            <a:ext cx="6355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40" dirty="0">
                <a:solidFill>
                  <a:srgbClr val="5D62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先看0值和时间缺口，再进入正式分析。</a:t>
            </a:r>
            <a:endParaRPr lang="en-US" sz="1540" dirty="0"/>
          </a:p>
        </p:txBody>
      </p:sp>
      <p:sp>
        <p:nvSpPr>
          <p:cNvPr id="24" name="Shape 21"/>
          <p:cNvSpPr/>
          <p:nvPr/>
        </p:nvSpPr>
        <p:spPr>
          <a:xfrm>
            <a:off x="960120" y="5715000"/>
            <a:ext cx="7223760" cy="429768"/>
          </a:xfrm>
          <a:prstGeom prst="roundRect">
            <a:avLst>
              <a:gd name="adj" fmla="val 25532"/>
            </a:avLst>
          </a:prstGeom>
          <a:solidFill>
            <a:srgbClr val="FBEAEC"/>
          </a:solidFill>
          <a:ln w="10160">
            <a:solidFill>
              <a:srgbClr val="C30D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15568" y="5751576"/>
            <a:ext cx="6912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8F0B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汇报和报告的具体要求，以配套的学生版项目任务书为准。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《交通大数据分析与应用》PEMS-BAY课程项目任务说明</dc:title>
  <dc:subject>PEMS-BAY课程项目学生任务说明</dc:subject>
  <dc:creator>《交通大数据分析与应用》课程组</dc:creator>
  <cp:lastModifiedBy>《交通大数据分析与应用》课程组</cp:lastModifiedBy>
  <cp:revision>1</cp:revision>
  <dcterms:created xsi:type="dcterms:W3CDTF">2026-09-20T00:23:58Z</dcterms:created>
  <dcterms:modified xsi:type="dcterms:W3CDTF">2026-09-20T00:23:58Z</dcterms:modified>
</cp:coreProperties>
</file>